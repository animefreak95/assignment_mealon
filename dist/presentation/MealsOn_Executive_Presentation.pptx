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FF5A1F"/>
                </a:solidFill>
              </a:defRPr>
            </a:pPr>
            <a:r>
              <a:t>SLIDE 01 • EXECUTIVE SUMMARY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Transforming Weekday Lunches into an Automated, Predictable Habit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5508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MealsOn Scheduled Meals • Executive Product Strategy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28416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057400"/>
            <a:ext cx="2779776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F59E0B"/>
                </a:solidFill>
              </a:defRPr>
            </a:pPr>
            <a:r>
              <a:t>₹12,000 Cr</a:t>
            </a:r>
          </a:p>
          <a:p>
            <a:pPr>
              <a:spcAft>
                <a:spcPts val="1600"/>
              </a:spcAft>
              <a:defRPr sz="1200" b="1">
                <a:solidFill>
                  <a:srgbClr val="0F172A"/>
                </a:solidFill>
              </a:defRPr>
            </a:pPr>
            <a:r>
              <a:t>Market Pain: High Friction</a:t>
            </a:r>
          </a:p>
          <a:p>
            <a:pPr>
              <a:spcAft>
                <a:spcPts val="1000"/>
              </a:spcAft>
              <a:defRPr b="1" sz="1100">
                <a:solidFill>
                  <a:srgbClr val="0F172A"/>
                </a:solidFill>
              </a:defRPr>
            </a:pPr>
            <a:r>
              <a:t>• ₹45–₹65: </a:t>
            </a:r>
            <a:r>
              <a:rPr b="0" sz="1050">
                <a:solidFill>
                  <a:srgbClr val="475569"/>
                </a:solidFill>
              </a:rPr>
              <a:t>Average delivery &amp; packaging fees per lunch order</a:t>
            </a:r>
          </a:p>
          <a:p>
            <a:pPr>
              <a:spcAft>
                <a:spcPts val="1000"/>
              </a:spcAft>
              <a:defRPr b="1" sz="1100">
                <a:solidFill>
                  <a:srgbClr val="0F172A"/>
                </a:solidFill>
              </a:defRPr>
            </a:pPr>
            <a:r>
              <a:t>• 20 Mins: </a:t>
            </a:r>
            <a:r>
              <a:rPr b="0" sz="1050">
                <a:solidFill>
                  <a:srgbClr val="475569"/>
                </a:solidFill>
              </a:rPr>
              <a:t>Daily decision fatigue spent choosing food</a:t>
            </a:r>
          </a:p>
          <a:p>
            <a:pPr>
              <a:spcAft>
                <a:spcPts val="1000"/>
              </a:spcAft>
              <a:defRPr b="1" sz="1100">
                <a:solidFill>
                  <a:srgbClr val="0F172A"/>
                </a:solidFill>
              </a:defRPr>
            </a:pPr>
            <a:r>
              <a:t>• 35% Churn: </a:t>
            </a:r>
            <a:r>
              <a:rPr b="0" sz="1050">
                <a:solidFill>
                  <a:srgbClr val="475569"/>
                </a:solidFill>
              </a:rPr>
              <a:t>Traditional subscriptions fail by Week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828800"/>
            <a:ext cx="3328416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0016" y="2057400"/>
            <a:ext cx="2779776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FF5A1F"/>
                </a:solidFill>
              </a:defRPr>
            </a:pPr>
            <a:r>
              <a:t>MealsOn Pass</a:t>
            </a:r>
          </a:p>
          <a:p>
            <a:pPr>
              <a:spcAft>
                <a:spcPts val="1600"/>
              </a:spcAft>
              <a:defRPr sz="1200" b="1">
                <a:solidFill>
                  <a:srgbClr val="0F172A"/>
                </a:solidFill>
              </a:defRPr>
            </a:pPr>
            <a:r>
              <a:t>The Solution: Zero Friction</a:t>
            </a:r>
          </a:p>
          <a:p>
            <a:pPr>
              <a:spcAft>
                <a:spcPts val="1000"/>
              </a:spcAft>
              <a:defRPr b="1" sz="1100">
                <a:solidFill>
                  <a:srgbClr val="0F172A"/>
                </a:solidFill>
              </a:defRPr>
            </a:pPr>
            <a:r>
              <a:t>• 3 Tiers: </a:t>
            </a:r>
            <a:r>
              <a:rPr b="0" sz="1050">
                <a:solidFill>
                  <a:srgbClr val="475569"/>
                </a:solidFill>
              </a:rPr>
              <a:t>₹160 Homestyle, ₹250 Balanced, ₹320 Macro Pro</a:t>
            </a:r>
          </a:p>
          <a:p>
            <a:pPr>
              <a:spcAft>
                <a:spcPts val="1000"/>
              </a:spcAft>
              <a:defRPr b="1" sz="1100">
                <a:solidFill>
                  <a:srgbClr val="0F172A"/>
                </a:solidFill>
              </a:defRPr>
            </a:pPr>
            <a:r>
              <a:t>• 35-Day Buffer: </a:t>
            </a:r>
            <a:r>
              <a:rPr b="0" sz="1050">
                <a:solidFill>
                  <a:srgbClr val="475569"/>
                </a:solidFill>
              </a:rPr>
              <a:t>Extended validity so unconsumed meals never forfeit</a:t>
            </a:r>
          </a:p>
          <a:p>
            <a:pPr>
              <a:spcAft>
                <a:spcPts val="1000"/>
              </a:spcAft>
              <a:defRPr b="1" sz="1100">
                <a:solidFill>
                  <a:srgbClr val="0F172A"/>
                </a:solidFill>
              </a:defRPr>
            </a:pPr>
            <a:r>
              <a:t>• 100% Rollover: </a:t>
            </a:r>
            <a:r>
              <a:rPr b="0" sz="1050">
                <a:solidFill>
                  <a:srgbClr val="475569"/>
                </a:solidFill>
              </a:rPr>
              <a:t>Unused rupee differences stay safely in wallet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828800"/>
            <a:ext cx="3328416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94192" y="2057400"/>
            <a:ext cx="2779776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800" b="1">
                <a:solidFill>
                  <a:srgbClr val="10B981"/>
                </a:solidFill>
              </a:defRPr>
            </a:pPr>
            <a:r>
              <a:t>63% Savings</a:t>
            </a:r>
          </a:p>
          <a:p>
            <a:pPr>
              <a:spcAft>
                <a:spcPts val="1600"/>
              </a:spcAft>
              <a:defRPr sz="1200" b="1">
                <a:solidFill>
                  <a:srgbClr val="0F172A"/>
                </a:solidFill>
              </a:defRPr>
            </a:pPr>
            <a:r>
              <a:t>Unit Economics: Fleet Scale</a:t>
            </a:r>
          </a:p>
          <a:p>
            <a:pPr>
              <a:spcAft>
                <a:spcPts val="1000"/>
              </a:spcAft>
              <a:defRPr b="1" sz="1100">
                <a:solidFill>
                  <a:srgbClr val="0F172A"/>
                </a:solidFill>
              </a:defRPr>
            </a:pPr>
            <a:r>
              <a:t>• ₹24 / Meal: </a:t>
            </a:r>
            <a:r>
              <a:rPr b="0" sz="1050">
                <a:solidFill>
                  <a:srgbClr val="475569"/>
                </a:solidFill>
              </a:rPr>
              <a:t>Drop cost via consolidated Office Pod deliveries</a:t>
            </a:r>
          </a:p>
          <a:p>
            <a:pPr>
              <a:spcAft>
                <a:spcPts val="1000"/>
              </a:spcAft>
              <a:defRPr b="1" sz="1100">
                <a:solidFill>
                  <a:srgbClr val="0F172A"/>
                </a:solidFill>
              </a:defRPr>
            </a:pPr>
            <a:r>
              <a:t>• ₹0 Delivery: </a:t>
            </a:r>
            <a:r>
              <a:rPr b="0" sz="1050">
                <a:solidFill>
                  <a:srgbClr val="475569"/>
                </a:solidFill>
              </a:rPr>
              <a:t>Savings passed back directly to consumers</a:t>
            </a:r>
          </a:p>
          <a:p>
            <a:pPr>
              <a:spcAft>
                <a:spcPts val="1000"/>
              </a:spcAft>
              <a:defRPr b="1" sz="1100">
                <a:solidFill>
                  <a:srgbClr val="0F172A"/>
                </a:solidFill>
              </a:defRPr>
            </a:pPr>
            <a:r>
              <a:t>• 28% Less Waste: </a:t>
            </a:r>
            <a:r>
              <a:rPr b="0" sz="1050">
                <a:solidFill>
                  <a:srgbClr val="475569"/>
                </a:solidFill>
              </a:rPr>
              <a:t>Night-before 10 PM kitchen batch procurement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FF5A1F"/>
                </a:solidFill>
              </a:defRPr>
            </a:pPr>
            <a:r>
              <a:t>SLIDE 02 • TARGET PERSONAS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5 Segmented User Personas Across Corporate Office Hubs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5508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MealsOn Scheduled Meals • Executive Product Strategy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1993392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162763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Priya (28)</a:t>
            </a:r>
          </a:p>
          <a:p>
            <a:pPr>
              <a:spcAft>
                <a:spcPts val="1400"/>
              </a:spcAft>
              <a:defRPr sz="1000" b="1">
                <a:solidFill>
                  <a:srgbClr val="FF5A1F"/>
                </a:solidFill>
              </a:defRPr>
            </a:pPr>
            <a:r>
              <a:t>Tech Lead</a:t>
            </a:r>
          </a:p>
          <a:p>
            <a:pPr>
              <a:defRPr sz="900" b="1">
                <a:solidFill>
                  <a:srgbClr val="64748B"/>
                </a:solidFill>
              </a:defRPr>
            </a:pPr>
            <a:r>
              <a:t>CORE NEED</a:t>
            </a:r>
          </a:p>
          <a:p>
            <a:pPr>
              <a:spcAft>
                <a:spcPts val="1400"/>
              </a:spcAft>
              <a:defRPr sz="1100" b="1">
                <a:solidFill>
                  <a:srgbClr val="FF5A1F"/>
                </a:solidFill>
              </a:defRPr>
            </a:pPr>
            <a:r>
              <a:t>Macro Fitness</a:t>
            </a:r>
          </a:p>
          <a:p>
            <a:pPr>
              <a:defRPr sz="900" b="1">
                <a:solidFill>
                  <a:srgbClr val="64748B"/>
                </a:solidFill>
              </a:defRPr>
            </a:pPr>
            <a:r>
              <a:t>PAIN SOLVED</a:t>
            </a:r>
          </a:p>
          <a:p>
            <a:pPr>
              <a:lnSpc>
                <a:spcPct val="125000"/>
              </a:lnSpc>
              <a:defRPr sz="1050">
                <a:solidFill>
                  <a:srgbClr val="475569"/>
                </a:solidFill>
              </a:defRPr>
            </a:pPr>
            <a:r>
              <a:t>High protein (&gt;20g), &lt;500 kcal, pure veg. Hybrid schedule.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7792" y="1828800"/>
            <a:ext cx="1993392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90672" y="2057400"/>
            <a:ext cx="162763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Rahul (24)</a:t>
            </a:r>
          </a:p>
          <a:p>
            <a:pPr>
              <a:spcAft>
                <a:spcPts val="1400"/>
              </a:spcAft>
              <a:defRPr sz="1000" b="1">
                <a:solidFill>
                  <a:srgbClr val="10B981"/>
                </a:solidFill>
              </a:defRPr>
            </a:pPr>
            <a:r>
              <a:t>Analyst</a:t>
            </a:r>
          </a:p>
          <a:p>
            <a:pPr>
              <a:defRPr sz="900" b="1">
                <a:solidFill>
                  <a:srgbClr val="64748B"/>
                </a:solidFill>
              </a:defRPr>
            </a:pPr>
            <a:r>
              <a:t>CORE NEED</a:t>
            </a:r>
          </a:p>
          <a:p>
            <a:pPr>
              <a:spcAft>
                <a:spcPts val="1400"/>
              </a:spcAft>
              <a:defRPr sz="1100" b="1">
                <a:solidFill>
                  <a:srgbClr val="10B981"/>
                </a:solidFill>
              </a:defRPr>
            </a:pPr>
            <a:r>
              <a:t>Budget &amp; Comfort</a:t>
            </a:r>
          </a:p>
          <a:p>
            <a:pPr>
              <a:defRPr sz="900" b="1">
                <a:solidFill>
                  <a:srgbClr val="64748B"/>
                </a:solidFill>
              </a:defRPr>
            </a:pPr>
            <a:r>
              <a:t>PAIN SOLVED</a:t>
            </a:r>
          </a:p>
          <a:p>
            <a:pPr>
              <a:lnSpc>
                <a:spcPct val="125000"/>
              </a:lnSpc>
              <a:defRPr sz="1050">
                <a:solidFill>
                  <a:srgbClr val="475569"/>
                </a:solidFill>
              </a:defRPr>
            </a:pPr>
            <a:r>
              <a:t>Living in rented flat, budget &lt;₹200. Craves homestyle comfort.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84064" y="1828800"/>
            <a:ext cx="1993392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266944" y="2057400"/>
            <a:ext cx="162763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Vikram (34)</a:t>
            </a:r>
          </a:p>
          <a:p>
            <a:pPr>
              <a:spcAft>
                <a:spcPts val="1400"/>
              </a:spcAft>
              <a:defRPr sz="1000" b="1">
                <a:solidFill>
                  <a:srgbClr val="4F46E5"/>
                </a:solidFill>
              </a:defRPr>
            </a:pPr>
            <a:r>
              <a:t>VP Product</a:t>
            </a:r>
          </a:p>
          <a:p>
            <a:pPr>
              <a:defRPr sz="900" b="1">
                <a:solidFill>
                  <a:srgbClr val="64748B"/>
                </a:solidFill>
              </a:defRPr>
            </a:pPr>
            <a:r>
              <a:t>CORE NEED</a:t>
            </a:r>
          </a:p>
          <a:p>
            <a:pPr>
              <a:spcAft>
                <a:spcPts val="1400"/>
              </a:spcAft>
              <a:defRPr sz="1100" b="1">
                <a:solidFill>
                  <a:srgbClr val="4F46E5"/>
                </a:solidFill>
              </a:defRPr>
            </a:pPr>
            <a:r>
              <a:t>Flexibility</a:t>
            </a:r>
          </a:p>
          <a:p>
            <a:pPr>
              <a:defRPr sz="900" b="1">
                <a:solidFill>
                  <a:srgbClr val="64748B"/>
                </a:solidFill>
              </a:defRPr>
            </a:pPr>
            <a:r>
              <a:t>PAIN SOLVED</a:t>
            </a:r>
          </a:p>
          <a:p>
            <a:pPr>
              <a:lnSpc>
                <a:spcPct val="125000"/>
              </a:lnSpc>
              <a:defRPr sz="1050">
                <a:solidFill>
                  <a:srgbClr val="475569"/>
                </a:solidFill>
              </a:defRPr>
            </a:pPr>
            <a:r>
              <a:t>Back-to-back meetings, sudden client lunches. Needs 1-tap skip.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0336" y="1828800"/>
            <a:ext cx="1993392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43216" y="2057400"/>
            <a:ext cx="162763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Sneha (29)</a:t>
            </a:r>
          </a:p>
          <a:p>
            <a:pPr>
              <a:spcAft>
                <a:spcPts val="1400"/>
              </a:spcAft>
              <a:defRPr sz="1000" b="1">
                <a:solidFill>
                  <a:srgbClr val="F59E0B"/>
                </a:solidFill>
              </a:defRPr>
            </a:pPr>
            <a:r>
              <a:t>Consultant</a:t>
            </a:r>
          </a:p>
          <a:p>
            <a:pPr>
              <a:defRPr sz="900" b="1">
                <a:solidFill>
                  <a:srgbClr val="64748B"/>
                </a:solidFill>
              </a:defRPr>
            </a:pPr>
            <a:r>
              <a:t>CORE NEED</a:t>
            </a:r>
          </a:p>
          <a:p>
            <a:pPr>
              <a:spcAft>
                <a:spcPts val="1400"/>
              </a:spcAft>
              <a:defRPr sz="1100" b="1">
                <a:solidFill>
                  <a:srgbClr val="F59E0B"/>
                </a:solidFill>
              </a:defRPr>
            </a:pPr>
            <a:r>
              <a:t>Travel Pause</a:t>
            </a:r>
          </a:p>
          <a:p>
            <a:pPr>
              <a:defRPr sz="900" b="1">
                <a:solidFill>
                  <a:srgbClr val="64748B"/>
                </a:solidFill>
              </a:defRPr>
            </a:pPr>
            <a:r>
              <a:t>PAIN SOLVED</a:t>
            </a:r>
          </a:p>
          <a:p>
            <a:pPr>
              <a:lnSpc>
                <a:spcPct val="125000"/>
              </a:lnSpc>
              <a:defRPr sz="1050">
                <a:solidFill>
                  <a:srgbClr val="475569"/>
                </a:solidFill>
              </a:defRPr>
            </a:pPr>
            <a:r>
              <a:t>Travels 1-2 wks/mo. Needs vacation pause so pass never expires.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36608" y="1828800"/>
            <a:ext cx="1993392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19488" y="2057400"/>
            <a:ext cx="162763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F172A"/>
                </a:solidFill>
              </a:defRPr>
            </a:pPr>
            <a:r>
              <a:t>Ananya (26)</a:t>
            </a:r>
          </a:p>
          <a:p>
            <a:pPr>
              <a:spcAft>
                <a:spcPts val="1400"/>
              </a:spcAft>
              <a:defRPr sz="1000" b="1">
                <a:solidFill>
                  <a:srgbClr val="E11D48"/>
                </a:solidFill>
              </a:defRPr>
            </a:pPr>
            <a:r>
              <a:t>Designer</a:t>
            </a:r>
          </a:p>
          <a:p>
            <a:pPr>
              <a:defRPr sz="900" b="1">
                <a:solidFill>
                  <a:srgbClr val="64748B"/>
                </a:solidFill>
              </a:defRPr>
            </a:pPr>
            <a:r>
              <a:t>CORE NEED</a:t>
            </a:r>
          </a:p>
          <a:p>
            <a:pPr>
              <a:spcAft>
                <a:spcPts val="1400"/>
              </a:spcAft>
              <a:defRPr sz="1100" b="1">
                <a:solidFill>
                  <a:srgbClr val="E11D48"/>
                </a:solidFill>
              </a:defRPr>
            </a:pPr>
            <a:r>
              <a:t>Food Vault</a:t>
            </a:r>
          </a:p>
          <a:p>
            <a:pPr>
              <a:defRPr sz="900" b="1">
                <a:solidFill>
                  <a:srgbClr val="64748B"/>
                </a:solidFill>
              </a:defRPr>
            </a:pPr>
            <a:r>
              <a:t>PAIN SOLVED</a:t>
            </a:r>
          </a:p>
          <a:p>
            <a:pPr>
              <a:lnSpc>
                <a:spcPct val="125000"/>
              </a:lnSpc>
              <a:defRPr sz="1050">
                <a:solidFill>
                  <a:srgbClr val="475569"/>
                </a:solidFill>
              </a:defRPr>
            </a:pPr>
            <a:r>
              <a:t>Dislikes algorithm surprises. Curates personal 12-dish vault.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FF5A1F"/>
                </a:solidFill>
              </a:defRPr>
            </a:pPr>
            <a:r>
              <a:t>SLIDE 03 • PRODUCT STRATEGY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The 6 Connected Pillars of MealsOn Scheduled Meals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5508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MealsOn Scheduled Meals • Executive Product Strategy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28416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11680"/>
            <a:ext cx="287121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F5A1F"/>
                </a:solidFill>
              </a:defRPr>
            </a:pPr>
            <a:r>
              <a:t>01. Subscription Pass &amp; FTUX</a:t>
            </a:r>
          </a:p>
          <a:p>
            <a:pPr>
              <a:lnSpc>
                <a:spcPct val="125000"/>
              </a:lnSpc>
              <a:defRPr sz="1050">
                <a:solidFill>
                  <a:srgbClr val="475569"/>
                </a:solidFill>
              </a:defRPr>
            </a:pPr>
            <a:r>
              <a:t>3 Allowance Tiers (₹160/₹250/₹320) + 10 to 35-day validity buffer + ₹0 delivery.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828800"/>
            <a:ext cx="3328416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54296" y="2011680"/>
            <a:ext cx="287121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10B981"/>
                </a:solidFill>
              </a:defRPr>
            </a:pPr>
            <a:r>
              <a:t>02. AI Playlist &amp; Food Vault</a:t>
            </a:r>
          </a:p>
          <a:p>
            <a:pPr>
              <a:lnSpc>
                <a:spcPct val="125000"/>
              </a:lnSpc>
              <a:defRPr sz="1050">
                <a:solidFill>
                  <a:srgbClr val="475569"/>
                </a:solidFill>
              </a:defRPr>
            </a:pPr>
            <a:r>
              <a:t>Dual-mode scheduling: AI prompt discovery OR user's 20-dish curated vault.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828800"/>
            <a:ext cx="3328416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48472" y="2011680"/>
            <a:ext cx="287121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4F46E5"/>
                </a:solidFill>
              </a:defRPr>
            </a:pPr>
            <a:r>
              <a:t>03. Split-Location Routing</a:t>
            </a:r>
          </a:p>
          <a:p>
            <a:pPr>
              <a:lnSpc>
                <a:spcPct val="125000"/>
              </a:lnSpc>
              <a:defRPr sz="1050">
                <a:solidFill>
                  <a:srgbClr val="475569"/>
                </a:solidFill>
              </a:defRPr>
            </a:pPr>
            <a:r>
              <a:t>Weekday Office vs. Home matrix with smart calendar sync auto-detecting WFH days.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69080"/>
            <a:ext cx="3328416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4251960"/>
            <a:ext cx="287121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F59E0B"/>
                </a:solidFill>
              </a:defRPr>
            </a:pPr>
            <a:r>
              <a:t>04. 8 PM Smart Cut-Off Drawer</a:t>
            </a:r>
          </a:p>
          <a:p>
            <a:pPr>
              <a:lnSpc>
                <a:spcPct val="125000"/>
              </a:lnSpc>
              <a:defRPr sz="1050">
                <a:solidFill>
                  <a:srgbClr val="475569"/>
                </a:solidFill>
              </a:defRPr>
            </a:pPr>
            <a:r>
              <a:t>Proactive In-App &amp; WhatsApp preview with 10 PM zero-waste kitchen batch lock.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5696" y="4069080"/>
            <a:ext cx="3328416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54296" y="4251960"/>
            <a:ext cx="287121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E11D48"/>
                </a:solidFill>
              </a:defRPr>
            </a:pPr>
            <a:r>
              <a:t>05. Pause Shield &amp; Wallet</a:t>
            </a:r>
          </a:p>
          <a:p>
            <a:pPr>
              <a:lnSpc>
                <a:spcPct val="125000"/>
              </a:lnSpc>
              <a:defRPr sz="1050">
                <a:solidFill>
                  <a:srgbClr val="475569"/>
                </a:solidFill>
              </a:defRPr>
            </a:pPr>
            <a:r>
              <a:t>100% rollover protection, vacation pause slider, and pro-rata fair refund rails.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19872" y="4069080"/>
            <a:ext cx="3328416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48472" y="4251960"/>
            <a:ext cx="2871216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4F46E5"/>
                </a:solidFill>
              </a:defRPr>
            </a:pPr>
            <a:r>
              <a:t>06. 5-Day Streaks &amp; Office Pods</a:t>
            </a:r>
          </a:p>
          <a:p>
            <a:pPr>
              <a:lnSpc>
                <a:spcPct val="125000"/>
              </a:lnSpc>
              <a:defRPr sz="1050">
                <a:solidFill>
                  <a:srgbClr val="475569"/>
                </a:solidFill>
              </a:defRPr>
            </a:pPr>
            <a:r>
              <a:t>Habit gamification with Friday free treats + 1:00 PM consolidated fleet drops.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FF5A1F"/>
                </a:solidFill>
              </a:defRPr>
            </a:pPr>
            <a:r>
              <a:t>SLIDE 04 • FIRST-TIME USER EXPERIENCE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FTUX Communication: 3 Pillars that Remove Commitment Anxiety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5508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MealsOn Scheduled Meals • Executive Product Strategy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28416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277977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10B981"/>
                </a:solidFill>
              </a:defRPr>
            </a:pPr>
            <a:r>
              <a:t>🛡️ BUFFER VALIDITY</a:t>
            </a:r>
          </a:p>
          <a:p>
            <a:pPr>
              <a:spcAft>
                <a:spcPts val="1600"/>
              </a:spcAft>
              <a:defRPr sz="1500" b="1">
                <a:solidFill>
                  <a:srgbClr val="0F172A"/>
                </a:solidFill>
              </a:defRPr>
            </a:pPr>
            <a:r>
              <a:t>Up to 35 Calendar Days</a:t>
            </a:r>
          </a:p>
          <a:p>
            <a:pPr>
              <a:lnSpc>
                <a:spcPct val="135000"/>
              </a:lnSpc>
              <a:defRPr sz="1100">
                <a:solidFill>
                  <a:srgbClr val="475569"/>
                </a:solidFill>
              </a:defRPr>
            </a:pPr>
            <a:r>
              <a:t>A 20-meal pass includes a 35-day window. Sickness, travel, or dining out never causes a meal to forfeit.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828800"/>
            <a:ext cx="3328416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0016" y="2194560"/>
            <a:ext cx="277977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F59E0B"/>
                </a:solidFill>
              </a:defRPr>
            </a:pPr>
            <a:r>
              <a:t>💰 VALUE ROLLOVER</a:t>
            </a:r>
          </a:p>
          <a:p>
            <a:pPr>
              <a:spcAft>
                <a:spcPts val="1600"/>
              </a:spcAft>
              <a:defRPr sz="1500" b="1">
                <a:solidFill>
                  <a:srgbClr val="0F172A"/>
                </a:solidFill>
              </a:defRPr>
            </a:pPr>
            <a:r>
              <a:t>Unused Rupee Stays in Wallet</a:t>
            </a:r>
          </a:p>
          <a:p>
            <a:pPr>
              <a:lnSpc>
                <a:spcPct val="135000"/>
              </a:lnSpc>
              <a:defRPr sz="1100">
                <a:solidFill>
                  <a:srgbClr val="475569"/>
                </a:solidFill>
              </a:defRPr>
            </a:pPr>
            <a:r>
              <a:t>Ordering a ₹190 dish on a ₹250 pass? The ₹60 surplus rolls directly into MealsOn Credits for treats.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828800"/>
            <a:ext cx="3328416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94192" y="2194560"/>
            <a:ext cx="2779776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100" b="1">
                <a:solidFill>
                  <a:srgbClr val="4F46E5"/>
                </a:solidFill>
              </a:defRPr>
            </a:pPr>
            <a:r>
              <a:t>⏰ 10 PM LOCK-IN</a:t>
            </a:r>
          </a:p>
          <a:p>
            <a:pPr>
              <a:spcAft>
                <a:spcPts val="1600"/>
              </a:spcAft>
              <a:defRPr sz="1500" b="1">
                <a:solidFill>
                  <a:srgbClr val="0F172A"/>
                </a:solidFill>
              </a:defRPr>
            </a:pPr>
            <a:r>
              <a:t>Zero Penalty Skip &amp; Swap</a:t>
            </a:r>
          </a:p>
          <a:p>
            <a:pPr>
              <a:lnSpc>
                <a:spcPct val="135000"/>
              </a:lnSpc>
              <a:defRPr sz="1100">
                <a:solidFill>
                  <a:srgbClr val="475569"/>
                </a:solidFill>
              </a:defRPr>
            </a:pPr>
            <a:r>
              <a:t>Swap cuisine or skip entirely until 10:00 PM the night before delivery with zero cancellation fee.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FF5A1F"/>
                </a:solidFill>
              </a:defRPr>
            </a:pPr>
            <a:r>
              <a:t>SLIDE 05 • PASS FLOW &amp; PAYMENT SYSTEMS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3 Allowance Tiers &amp; Triple Payment Rail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5508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MealsOn Scheduled Meals • Executive Product Strategy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75504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FF5A1F"/>
                </a:solidFill>
              </a:defRPr>
            </a:pPr>
            <a:r>
              <a:t>DAILY ALLOWANCE TIERS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Tier 1: ₹160/Meal ('Comfort')</a:t>
            </a:r>
          </a:p>
          <a:p>
            <a:pPr>
              <a:spcAft>
                <a:spcPts val="1200"/>
              </a:spcAft>
              <a:defRPr sz="1000">
                <a:solidFill>
                  <a:srgbClr val="475569"/>
                </a:solidFill>
              </a:defRPr>
            </a:pPr>
            <a:r>
              <a:t>Homestyle tiffins, khichdi, roti-sabzi (Save ₹1,280 on 20 meals)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Tier 2: ₹250/Meal ('Balanced' - Hero)</a:t>
            </a:r>
          </a:p>
          <a:p>
            <a:pPr>
              <a:spcAft>
                <a:spcPts val="1200"/>
              </a:spcAft>
              <a:defRPr sz="1000">
                <a:solidFill>
                  <a:srgbClr val="475569"/>
                </a:solidFill>
              </a:defRPr>
            </a:pPr>
            <a:r>
              <a:t>Executive thalis, paneer bowls, wraps (Save ₹1,550 on 20 meals)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Tier 3: ₹320/Meal ('Macro Pro')</a:t>
            </a:r>
          </a:p>
          <a:p>
            <a:pPr>
              <a:spcAft>
                <a:spcPts val="1200"/>
              </a:spcAft>
              <a:defRPr sz="1000">
                <a:solidFill>
                  <a:srgbClr val="475569"/>
                </a:solidFill>
              </a:defRPr>
            </a:pPr>
            <a:r>
              <a:t>&gt;30g protein gym bowls, keto, artisanal salads (Save ₹1,760 on 20 meals)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1828800"/>
            <a:ext cx="5175504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47104" y="21031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10B981"/>
                </a:solidFill>
              </a:defRPr>
            </a:pPr>
            <a:r>
              <a:t>TRIPLE PAYMENT RAILS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⭐ Hero: Upfront Prepaid (+5% Bonus)</a:t>
            </a:r>
          </a:p>
          <a:p>
            <a:pPr>
              <a:spcAft>
                <a:spcPts val="1200"/>
              </a:spcAft>
              <a:defRPr sz="1000">
                <a:solidFill>
                  <a:srgbClr val="475569"/>
                </a:solidFill>
              </a:defRPr>
            </a:pPr>
            <a:r>
              <a:t>Instant +5% bonus MealsOn Credits added to wallet for beverages/upgrades.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UPI AutoPay Mandate (10:00 PM)</a:t>
            </a:r>
          </a:p>
          <a:p>
            <a:pPr>
              <a:spcAft>
                <a:spcPts val="1200"/>
              </a:spcAft>
              <a:defRPr sz="1000">
                <a:solidFill>
                  <a:srgbClr val="475569"/>
                </a:solidFill>
              </a:defRPr>
            </a:pPr>
            <a:r>
              <a:t>₹0 charged today. Automatically debits nightly at 10 PM ONLY for confirmed meals.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Corporate Meal Cards (Tax-Free)</a:t>
            </a:r>
          </a:p>
          <a:p>
            <a:pPr>
              <a:spcAft>
                <a:spcPts val="1200"/>
              </a:spcAft>
              <a:defRPr sz="1000">
                <a:solidFill>
                  <a:srgbClr val="475569"/>
                </a:solidFill>
              </a:defRPr>
            </a:pPr>
            <a:r>
              <a:t>1-tap linking for Pluxee (Sodexo) &amp; Zaggle with inline balance check.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FF5A1F"/>
                </a:solidFill>
              </a:defRPr>
            </a:pPr>
            <a:r>
              <a:t>SLIDE 06 • DUAL SCHEDULING ENGINE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The 'Spotify Model' of Food: Discovery vs. Curated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5508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MealsOn Scheduled Meals • Executive Product Strategy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75504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FF5A1F"/>
                </a:solidFill>
              </a:defRPr>
            </a:pPr>
            <a:r>
              <a:t>🤖 MODE A: AI AUTO-PILOT</a:t>
            </a:r>
          </a:p>
          <a:p>
            <a:pPr>
              <a:spcAft>
                <a:spcPts val="800"/>
              </a:spcAft>
              <a:defRPr sz="1100" b="1">
                <a:solidFill>
                  <a:srgbClr val="0F172A"/>
                </a:solidFill>
              </a:defRPr>
            </a:pPr>
            <a:r>
              <a:t>• Natural Language Prompt: </a:t>
            </a:r>
            <a:r>
              <a:rPr b="0" sz="1000">
                <a:solidFill>
                  <a:srgbClr val="475569"/>
                </a:solidFill>
              </a:rPr>
              <a:t>E.g., 'High-protein veg lunches under 500 kcal, under ₹250'</a:t>
            </a:r>
          </a:p>
          <a:p>
            <a:pPr>
              <a:spcAft>
                <a:spcPts val="800"/>
              </a:spcAft>
              <a:defRPr sz="1100" b="1">
                <a:solidFill>
                  <a:srgbClr val="0F172A"/>
                </a:solidFill>
              </a:defRPr>
            </a:pPr>
            <a:r>
              <a:t>• 5 Preset Filter Chips: </a:t>
            </a:r>
            <a:r>
              <a:rPr b="0" sz="1000">
                <a:solidFill>
                  <a:srgbClr val="475569"/>
                </a:solidFill>
              </a:rPr>
              <a:t>High Protein (&gt;20g), &lt;500 Kcal, Pure Veg, Homestyle, Budget &lt;₹250</a:t>
            </a:r>
          </a:p>
          <a:p>
            <a:pPr>
              <a:spcAft>
                <a:spcPts val="800"/>
              </a:spcAft>
              <a:defRPr sz="1100" b="1">
                <a:solidFill>
                  <a:srgbClr val="0F172A"/>
                </a:solidFill>
              </a:defRPr>
            </a:pPr>
            <a:r>
              <a:t>• Multi-Kitchen Rotation: </a:t>
            </a:r>
            <a:r>
              <a:rPr b="0" sz="1000">
                <a:solidFill>
                  <a:srgbClr val="475569"/>
                </a:solidFill>
              </a:rPr>
              <a:t>Max 2 days per brand per week; consecutive days alternate cuisines</a:t>
            </a:r>
          </a:p>
          <a:p>
            <a:pPr>
              <a:spcAft>
                <a:spcPts val="800"/>
              </a:spcAft>
              <a:defRPr sz="1100" b="1">
                <a:solidFill>
                  <a:srgbClr val="0F172A"/>
                </a:solidFill>
              </a:defRPr>
            </a:pPr>
            <a:r>
              <a:t>• 1-Tap Dynamic Swap: </a:t>
            </a:r>
            <a:r>
              <a:rPr b="0" sz="1000">
                <a:solidFill>
                  <a:srgbClr val="475569"/>
                </a:solidFill>
              </a:rPr>
              <a:t>Instantly rotates alternative meals with live nutrition recalculation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1828800"/>
            <a:ext cx="5175504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47104" y="21031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E11D48"/>
                </a:solidFill>
              </a:defRPr>
            </a:pPr>
            <a:r>
              <a:t>💖 MODE B: MY FOOD VAULT (UP TO 20 ITEMS)</a:t>
            </a:r>
          </a:p>
          <a:p>
            <a:pPr>
              <a:spcAft>
                <a:spcPts val="800"/>
              </a:spcAft>
              <a:defRPr sz="1100" b="1">
                <a:solidFill>
                  <a:srgbClr val="0F172A"/>
                </a:solidFill>
              </a:defRPr>
            </a:pPr>
            <a:r>
              <a:t>• Curate Up to 20 Favorites: </a:t>
            </a:r>
            <a:r>
              <a:rPr b="0" sz="1000">
                <a:solidFill>
                  <a:srgbClr val="475569"/>
                </a:solidFill>
              </a:rPr>
              <a:t>Handpick 5–20 approved meals from verified partner cloud kitchens</a:t>
            </a:r>
          </a:p>
          <a:p>
            <a:pPr>
              <a:spcAft>
                <a:spcPts val="800"/>
              </a:spcAft>
              <a:defRPr sz="1100" b="1">
                <a:solidFill>
                  <a:srgbClr val="0F172A"/>
                </a:solidFill>
              </a:defRPr>
            </a:pPr>
            <a:r>
              <a:t>• Anti-Monotony Auto-Shuffle: </a:t>
            </a:r>
            <a:r>
              <a:rPr b="0" sz="1000">
                <a:solidFill>
                  <a:srgbClr val="475569"/>
                </a:solidFill>
              </a:rPr>
              <a:t>5-day Mon–Fri schedule rotates from vault with zero duplicate meals</a:t>
            </a:r>
          </a:p>
          <a:p>
            <a:pPr>
              <a:spcAft>
                <a:spcPts val="800"/>
              </a:spcAft>
              <a:defRPr sz="1100" b="1">
                <a:solidFill>
                  <a:srgbClr val="0F172A"/>
                </a:solidFill>
              </a:defRPr>
            </a:pPr>
            <a:r>
              <a:t>• Friday Discovery Wildcard: </a:t>
            </a:r>
            <a:r>
              <a:rPr b="0" sz="1000">
                <a:solidFill>
                  <a:srgbClr val="475569"/>
                </a:solidFill>
              </a:rPr>
              <a:t>Mon–Thu strictly from vault + 1 surprise top-rated chef treat on Friday</a:t>
            </a:r>
          </a:p>
          <a:p>
            <a:pPr>
              <a:spcAft>
                <a:spcPts val="800"/>
              </a:spcAft>
              <a:defRPr sz="1100" b="1">
                <a:solidFill>
                  <a:srgbClr val="0F172A"/>
                </a:solidFill>
              </a:defRPr>
            </a:pPr>
            <a:r>
              <a:t>• Vault-First Swapping: </a:t>
            </a:r>
            <a:r>
              <a:rPr b="0" sz="1000">
                <a:solidFill>
                  <a:srgbClr val="475569"/>
                </a:solidFill>
              </a:rPr>
              <a:t>Swapping prioritizes unassigned vault favorites before outside menus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FF5A1F"/>
                </a:solidFill>
              </a:defRPr>
            </a:pPr>
            <a:r>
              <a:t>SLIDE 07 • FULFILLMENT &amp; LOGISTICS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Hybrid Split-Location Routing: Adapting to Modern Corporate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5508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MealsOn Scheduled Meals • Executive Product Strategy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5175504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4F46E5"/>
                </a:solidFill>
              </a:defRPr>
            </a:pPr>
            <a:r>
              <a:t>MON–FRI LOCATION MATRIX</a:t>
            </a:r>
          </a:p>
          <a:p>
            <a:pPr>
              <a:spcAft>
                <a:spcPts val="800"/>
              </a:spcAft>
              <a:defRPr sz="1100" b="1">
                <a:solidFill>
                  <a:srgbClr val="0F172A"/>
                </a:solidFill>
              </a:defRPr>
            </a:pPr>
            <a:r>
              <a:t>• 1-Tap Daily Toggle: </a:t>
            </a:r>
            <a:r>
              <a:rPr b="0" sz="1000">
                <a:solidFill>
                  <a:srgbClr val="475569"/>
                </a:solidFill>
              </a:rPr>
              <a:t>Assign each weekday individually to 🏢 Office or 🏠 Home</a:t>
            </a:r>
          </a:p>
          <a:p>
            <a:pPr>
              <a:spcAft>
                <a:spcPts val="800"/>
              </a:spcAft>
              <a:defRPr sz="1100" b="1">
                <a:solidFill>
                  <a:srgbClr val="0F172A"/>
                </a:solidFill>
              </a:defRPr>
            </a:pPr>
            <a:r>
              <a:t>• Precision Drop Windows: </a:t>
            </a:r>
            <a:r>
              <a:rPr b="0" sz="1000">
                <a:solidFill>
                  <a:srgbClr val="475569"/>
                </a:solidFill>
              </a:rPr>
              <a:t>Office drop at 1:00 PM – 1:15 PM; Home drop at 1:30 PM – 1:45 PM</a:t>
            </a:r>
          </a:p>
          <a:p>
            <a:pPr>
              <a:spcAft>
                <a:spcPts val="800"/>
              </a:spcAft>
              <a:defRPr sz="1100" b="1">
                <a:solidFill>
                  <a:srgbClr val="0F172A"/>
                </a:solidFill>
              </a:defRPr>
            </a:pPr>
            <a:r>
              <a:t>• Dynamic Distribution Bar: </a:t>
            </a:r>
            <a:r>
              <a:rPr b="0" sz="1000">
                <a:solidFill>
                  <a:srgbClr val="475569"/>
                </a:solidFill>
              </a:rPr>
              <a:t>Live visual bar tracks office vs. home split (e.g. 60% Office • 40% Home)</a:t>
            </a:r>
          </a:p>
          <a:p>
            <a:pPr>
              <a:spcAft>
                <a:spcPts val="800"/>
              </a:spcAft>
              <a:defRPr sz="1100" b="1">
                <a:solidFill>
                  <a:srgbClr val="0F172A"/>
                </a:solidFill>
              </a:defRPr>
            </a:pPr>
            <a:r>
              <a:t>• Zero Delivery Surcharge: </a:t>
            </a:r>
            <a:r>
              <a:rPr b="0" sz="1000">
                <a:solidFill>
                  <a:srgbClr val="475569"/>
                </a:solidFill>
              </a:rPr>
              <a:t>₹0 delivery fee guaranteed on both office and residential drops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72784" y="1828800"/>
            <a:ext cx="5175504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47104" y="2103120"/>
            <a:ext cx="45720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200" b="1">
                <a:solidFill>
                  <a:srgbClr val="10B981"/>
                </a:solidFill>
              </a:defRPr>
            </a:pPr>
            <a:r>
              <a:t>SMART CALENDAR SYNC</a:t>
            </a:r>
          </a:p>
          <a:p>
            <a:pPr>
              <a:spcAft>
                <a:spcPts val="800"/>
              </a:spcAft>
              <a:defRPr sz="1100" b="1">
                <a:solidFill>
                  <a:srgbClr val="0F172A"/>
                </a:solidFill>
              </a:defRPr>
            </a:pPr>
            <a:r>
              <a:t>• Automated WFH Detection: </a:t>
            </a:r>
            <a:r>
              <a:rPr b="0" sz="1000">
                <a:solidFill>
                  <a:srgbClr val="475569"/>
                </a:solidFill>
              </a:rPr>
              <a:t>Integrates with work calendars to detect 'WFH' or 'Remote' events</a:t>
            </a:r>
          </a:p>
          <a:p>
            <a:pPr>
              <a:spcAft>
                <a:spcPts val="800"/>
              </a:spcAft>
              <a:defRPr sz="1100" b="1">
                <a:solidFill>
                  <a:srgbClr val="0F172A"/>
                </a:solidFill>
              </a:defRPr>
            </a:pPr>
            <a:r>
              <a:t>• Automatic Destination Flip: </a:t>
            </a:r>
            <a:r>
              <a:rPr b="0" sz="1000">
                <a:solidFill>
                  <a:srgbClr val="475569"/>
                </a:solidFill>
              </a:rPr>
              <a:t>Auto-flips Thursday delivery to Home when a remote day is detected</a:t>
            </a:r>
          </a:p>
          <a:p>
            <a:pPr>
              <a:spcAft>
                <a:spcPts val="800"/>
              </a:spcAft>
              <a:defRPr sz="1100" b="1">
                <a:solidFill>
                  <a:srgbClr val="0F172A"/>
                </a:solidFill>
              </a:defRPr>
            </a:pPr>
            <a:r>
              <a:t>• 1-Tap Undo Control: </a:t>
            </a:r>
            <a:r>
              <a:rPr b="0" sz="1000">
                <a:solidFill>
                  <a:srgbClr val="475569"/>
                </a:solidFill>
              </a:rPr>
              <a:t>Prominent push prompt allows instant revert if attending office in-person</a:t>
            </a:r>
          </a:p>
          <a:p>
            <a:pPr>
              <a:spcAft>
                <a:spcPts val="800"/>
              </a:spcAft>
              <a:defRPr sz="1100" b="1">
                <a:solidFill>
                  <a:srgbClr val="0F172A"/>
                </a:solidFill>
              </a:defRPr>
            </a:pPr>
            <a:r>
              <a:t>• 75% Churn Reduction: </a:t>
            </a:r>
            <a:r>
              <a:rPr b="0" sz="1000">
                <a:solidFill>
                  <a:srgbClr val="475569"/>
                </a:solidFill>
              </a:rPr>
              <a:t>Completely stops meals from arriving at empty office desks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FF5A1F"/>
                </a:solidFill>
              </a:defRPr>
            </a:pPr>
            <a:r>
              <a:t>SLIDE 08 • OPERATIONAL EXCELLENCE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8 PM Smart Cut-Off Drawer &amp; 10 PM Zero-Waste Kitchen 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5508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MealsOn Scheduled Meals • Executive Product Strategy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328416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57400"/>
            <a:ext cx="287121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10B981"/>
                </a:solidFill>
              </a:defRPr>
            </a:pPr>
            <a:r>
              <a:t>✅ KEEP MEAL</a:t>
            </a:r>
          </a:p>
          <a:p>
            <a:pPr>
              <a:spcAft>
                <a:spcPts val="1200"/>
              </a:spcAft>
              <a:defRPr sz="1400" b="1">
                <a:solidFill>
                  <a:srgbClr val="0F172A"/>
                </a:solidFill>
              </a:defRPr>
            </a:pPr>
            <a:r>
              <a:t>Confirmed with 1 Tap</a:t>
            </a:r>
          </a:p>
          <a:p>
            <a:pPr>
              <a:lnSpc>
                <a:spcPct val="130000"/>
              </a:lnSpc>
              <a:defRPr sz="1100">
                <a:solidFill>
                  <a:srgbClr val="475569"/>
                </a:solidFill>
              </a:defRPr>
            </a:pPr>
            <a:r>
              <a:t>Locks tomorrow's lunch into partner kitchen's morning batch cooking sheet.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25696" y="1828800"/>
            <a:ext cx="3328416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54296" y="2057400"/>
            <a:ext cx="287121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F5A1F"/>
                </a:solidFill>
              </a:defRPr>
            </a:pPr>
            <a:r>
              <a:t>🔄 1-TAP SWAP</a:t>
            </a:r>
          </a:p>
          <a:p>
            <a:pPr>
              <a:spcAft>
                <a:spcPts val="1200"/>
              </a:spcAft>
              <a:defRPr sz="1400" b="1">
                <a:solidFill>
                  <a:srgbClr val="0F172A"/>
                </a:solidFill>
              </a:defRPr>
            </a:pPr>
            <a:r>
              <a:t>3 Inline Replacements</a:t>
            </a:r>
          </a:p>
          <a:p>
            <a:pPr>
              <a:lnSpc>
                <a:spcPct val="130000"/>
              </a:lnSpc>
              <a:defRPr sz="1100">
                <a:solidFill>
                  <a:srgbClr val="475569"/>
                </a:solidFill>
              </a:defRPr>
            </a:pPr>
            <a:r>
              <a:t>Cycles equal-tier candidate dishes with live nutrition recalculation.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19872" y="1828800"/>
            <a:ext cx="3328416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48472" y="2057400"/>
            <a:ext cx="2871216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F59E0B"/>
                </a:solidFill>
              </a:defRPr>
            </a:pPr>
            <a:r>
              <a:t>⏭️ SKIP &amp; BANK</a:t>
            </a:r>
          </a:p>
          <a:p>
            <a:pPr>
              <a:spcAft>
                <a:spcPts val="1200"/>
              </a:spcAft>
              <a:defRPr sz="1400" b="1">
                <a:solidFill>
                  <a:srgbClr val="0F172A"/>
                </a:solidFill>
              </a:defRPr>
            </a:pPr>
            <a:r>
              <a:t>100% Rollover Protection</a:t>
            </a:r>
          </a:p>
          <a:p>
            <a:pPr>
              <a:lnSpc>
                <a:spcPct val="130000"/>
              </a:lnSpc>
              <a:defRPr sz="1100">
                <a:solidFill>
                  <a:srgbClr val="475569"/>
                </a:solidFill>
              </a:defRPr>
            </a:pPr>
            <a:r>
              <a:t>Preserves credit into Pause Shield Wallet and extends pass validity +1 day.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03520"/>
            <a:ext cx="10728655" cy="731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4F46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440680"/>
            <a:ext cx="10149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4F46E5"/>
                </a:solidFill>
              </a:defRPr>
            </a:pPr>
            <a:r>
              <a:t>PROACTIVE MULTI-CHANNEL ENGAGEMENT: Sent at 8:00 PM via In-App Drawer and WhatsApp Interactive Messages. 10 PM lock-in cuts partner food waste by 28%.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0292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050" b="1">
                <a:solidFill>
                  <a:srgbClr val="FF5A1F"/>
                </a:solidFill>
              </a:defRPr>
            </a:pPr>
            <a:r>
              <a:t>SLIDE 09 • GO-TO-MARKET (GTM) STRATEGY</a:t>
            </a:r>
          </a:p>
          <a:p>
            <a:pPr>
              <a:defRPr sz="2200" b="1">
                <a:solidFill>
                  <a:srgbClr val="0F172A"/>
                </a:solidFill>
              </a:defRPr>
            </a:pPr>
            <a:r>
              <a:t>Multi-Channel Outbound Acquisition &amp; Cart Interception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55080"/>
            <a:ext cx="10728655" cy="2743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00">
                <a:solidFill>
                  <a:srgbClr val="94A3B8"/>
                </a:solidFill>
              </a:defRPr>
            </a:pPr>
            <a:r>
              <a:t>MealsOn Scheduled Meals • Executive Product Strategy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2496312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57400"/>
            <a:ext cx="213055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10B981"/>
                </a:solidFill>
              </a:defRPr>
            </a:pPr>
            <a:r>
              <a:t>📲 WHATSAPP</a:t>
            </a:r>
          </a:p>
          <a:p>
            <a:pPr>
              <a:spcAft>
                <a:spcPts val="1200"/>
              </a:spcAft>
              <a:defRPr sz="1100" b="1">
                <a:solidFill>
                  <a:srgbClr val="0F172A"/>
                </a:solidFill>
              </a:defRPr>
            </a:pPr>
            <a:r>
              <a:t>10:45 AM Pre-Lunch</a:t>
            </a:r>
          </a:p>
          <a:p>
            <a:pPr>
              <a:lnSpc>
                <a:spcPct val="130000"/>
              </a:lnSpc>
              <a:defRPr sz="1050">
                <a:solidFill>
                  <a:srgbClr val="475569"/>
                </a:solidFill>
              </a:defRPr>
            </a:pPr>
            <a:r>
              <a:t>Rich video preview + 1-tap quick action deep links (mealson://subscribe/ftux) sent during peak decision fatigue.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828800"/>
            <a:ext cx="2496312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0" y="2057400"/>
            <a:ext cx="213055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4F46E5"/>
                </a:solidFill>
              </a:defRPr>
            </a:pPr>
            <a:r>
              <a:t>🔔 PUSH ALERTS</a:t>
            </a:r>
          </a:p>
          <a:p>
            <a:pPr>
              <a:spcAft>
                <a:spcPts val="1200"/>
              </a:spcAft>
              <a:defRPr sz="1100" b="1">
                <a:solidFill>
                  <a:srgbClr val="0F172A"/>
                </a:solidFill>
              </a:defRPr>
            </a:pPr>
            <a:r>
              <a:t>Post-Cart Intercept</a:t>
            </a:r>
          </a:p>
          <a:p>
            <a:pPr>
              <a:lnSpc>
                <a:spcPct val="130000"/>
              </a:lnSpc>
              <a:defRPr sz="1050">
                <a:solidFill>
                  <a:srgbClr val="475569"/>
                </a:solidFill>
              </a:defRPr>
            </a:pPr>
            <a:r>
              <a:t>Triggered 5m post on-demand order: 'You spent ₹48 on delivery just now. Lock in ₹0 delivery with Pass'.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828800"/>
            <a:ext cx="2496312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2057400"/>
            <a:ext cx="213055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59E0B"/>
                </a:solidFill>
              </a:defRPr>
            </a:pPr>
            <a:r>
              <a:t>💬 DIRECT SMS</a:t>
            </a:r>
          </a:p>
          <a:p>
            <a:pPr>
              <a:spcAft>
                <a:spcPts val="1200"/>
              </a:spcAft>
              <a:defRPr sz="1100" b="1">
                <a:solidFill>
                  <a:srgbClr val="0F172A"/>
                </a:solidFill>
              </a:defRPr>
            </a:pPr>
            <a:r>
              <a:t>Thursday 6:30 PM</a:t>
            </a:r>
          </a:p>
          <a:p>
            <a:pPr>
              <a:lnSpc>
                <a:spcPct val="130000"/>
              </a:lnSpc>
              <a:defRPr sz="1050">
                <a:solidFill>
                  <a:srgbClr val="475569"/>
                </a:solidFill>
              </a:defRPr>
            </a:pPr>
            <a:r>
              <a:t>Concise 150-char SMS with personalized shortlink for planning next week's lunches.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828800"/>
            <a:ext cx="2496312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0" y="2057400"/>
            <a:ext cx="2130552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FF5A1F"/>
                </a:solidFill>
              </a:defRPr>
            </a:pPr>
            <a:r>
              <a:t>🎬 VIDEO TEASER</a:t>
            </a:r>
          </a:p>
          <a:p>
            <a:pPr>
              <a:spcAft>
                <a:spcPts val="1200"/>
              </a:spcAft>
              <a:defRPr sz="1100" b="1">
                <a:solidFill>
                  <a:srgbClr val="0F172A"/>
                </a:solidFill>
              </a:defRPr>
            </a:pPr>
            <a:r>
              <a:t>In-App Bottom Sheet</a:t>
            </a:r>
          </a:p>
          <a:p>
            <a:pPr>
              <a:lnSpc>
                <a:spcPct val="130000"/>
              </a:lnSpc>
              <a:defRPr sz="1050">
                <a:solidFill>
                  <a:srgbClr val="475569"/>
                </a:solidFill>
              </a:defRPr>
            </a:pPr>
            <a:r>
              <a:t>8-second looping animation communicating the 3 trust pillars, interactive tier picker, and +5% bonus.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